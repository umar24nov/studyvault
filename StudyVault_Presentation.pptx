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📚 StudyVault</a:t>
            </a:r>
          </a:p>
          <a:p>
            <a:pPr algn="l">
              <a:spcAft>
                <a:spcPts val="1800"/>
              </a:spcAft>
            </a:pPr>
            <a:r>
              <a:rPr sz="2400" b="0" i="0">
                <a:solidFill>
                  <a:srgbClr val="43E8B0"/>
                </a:solidFill>
                <a:latin typeface="Calibri"/>
              </a:rPr>
              <a:t>Built by students, for students across India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CCCD6"/>
                </a:solidFill>
                <a:latin typeface="Calibri"/>
              </a:rPr>
              <a:t>A Full-Stack Study Resource Platform — upload, browse, bookmark &amp; review previous year papers, notes and guides.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Presented by  Mohammad Umar  ·  B.Tech CSE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E6E7A"/>
                </a:solidFill>
                <a:latin typeface="Calibri"/>
              </a:rPr>
              <a:t>Node.js  ·  Express  ·  Firebase  ·  Cloudinary  ·  Resend  ·  Vercel  ·  Render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02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0A0A0F"/>
                </a:solidFill>
                <a:latin typeface="Calibri"/>
              </a:rPr>
              <a:t>▪  1.  Project Overview &amp; Motivation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0A0A0F"/>
                </a:solidFill>
                <a:latin typeface="Calibri"/>
              </a:rPr>
              <a:t>▪  2.  Key Features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0A0A0F"/>
                </a:solidFill>
                <a:latin typeface="Calibri"/>
              </a:rPr>
              <a:t>▪  3.  Tech Stack — every technology explained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0A0A0F"/>
                </a:solidFill>
                <a:latin typeface="Calibri"/>
              </a:rPr>
              <a:t>▪  4.  Account Setup — step-by-step for Firebase, Cloudinary, Resend, Vercel, Render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0A0A0F"/>
                </a:solidFill>
                <a:latin typeface="Calibri"/>
              </a:rPr>
              <a:t>▪  5.  How to Run the Project Locally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0A0A0F"/>
                </a:solidFill>
                <a:latin typeface="Calibri"/>
              </a:rPr>
              <a:t>▪  6.  Environment Variables &amp; Project Structure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0A0A0F"/>
                </a:solidFill>
                <a:latin typeface="Calibri"/>
              </a:rPr>
              <a:t>▪  7.  API Endpoints &amp; Database Design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0A0A0F"/>
                </a:solidFill>
                <a:latin typeface="Calibri"/>
              </a:rPr>
              <a:t>▪  8.  Security, Testing &amp; CI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0A0A0F"/>
                </a:solidFill>
                <a:latin typeface="Calibri"/>
              </a:rPr>
              <a:t>▪  9.  Deployment &amp; Live Links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0A0A0F"/>
                </a:solidFill>
                <a:latin typeface="Calibri"/>
              </a:rPr>
              <a:t>▪  10. 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03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Project Overview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What is StudyVault?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0A0A0F"/>
                </a:solidFill>
                <a:latin typeface="Calibri"/>
              </a:rPr>
              <a:t>▪  A web platform where students can: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6E6E7A"/>
                </a:solidFill>
                <a:latin typeface="Calibri"/>
              </a:rPr>
              <a:t>•  Browse &amp; download previous year question papers (PYQs), notes, model papers and booklets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6E6E7A"/>
                </a:solidFill>
                <a:latin typeface="Calibri"/>
              </a:rPr>
              <a:t>•  Search across Engineering, Management, Law, Medical, Humanities &amp; more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6E6E7A"/>
                </a:solidFill>
                <a:latin typeface="Calibri"/>
              </a:rPr>
              <a:t>•  Upload their own study material to help fellow students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6E6E7A"/>
                </a:solidFill>
                <a:latin typeface="Calibri"/>
              </a:rPr>
              <a:t>•  Bookmark papers, rate &amp; review them, and get email notifications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0A0A0F"/>
                </a:solidFill>
                <a:latin typeface="Calibri"/>
              </a:rPr>
              <a:t>▪  New uploads go through a review queue — admins approve before content goes live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0A0A0F"/>
                </a:solidFill>
                <a:latin typeface="Calibri"/>
              </a:rPr>
              <a:t>▪  Built as a first full-stack project, now live and in active use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0A0A0F"/>
                </a:solidFill>
                <a:latin typeface="Calibri"/>
              </a:rPr>
              <a:t>▪  Server-side rendering of the API with a clean, responsive mobile-first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04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Problem Statement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Why was this built?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A0A0F"/>
                </a:solidFill>
                <a:latin typeface="Calibri"/>
              </a:rPr>
              <a:t>▪  Study material is scattered — PYQs and notes are spread across college groups, blogs, and paid sites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A0A0F"/>
                </a:solidFill>
                <a:latin typeface="Calibri"/>
              </a:rPr>
              <a:t>▪  Many quality resources sit behind paywalls or require sign-ups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A0A0F"/>
                </a:solidFill>
                <a:latin typeface="Calibri"/>
              </a:rPr>
              <a:t>▪  Students from smaller colleges / less-known universities have the hardest time finding material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A0A0F"/>
                </a:solidFill>
                <a:latin typeface="Calibri"/>
              </a:rPr>
              <a:t>▪  Uploaded files are often low quality, unsearchable, or unverifiable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A0A0F"/>
                </a:solidFill>
                <a:latin typeface="Calibri"/>
              </a:rPr>
              <a:t>▪  There is no single, community-driven place built specifically for Indian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C63FF"/>
                </a:solidFill>
                <a:latin typeface="Calibri"/>
              </a:rPr>
              <a:t>Goal: make quality study material accessible to every student, regardless of their college or background.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05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Solution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What StudyVault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0A0F"/>
                </a:solidFill>
                <a:latin typeface="Calibri"/>
              </a:rPr>
              <a:t>✅  Community-driven resource library — students contribute and help each other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0A0F"/>
                </a:solidFill>
                <a:latin typeface="Calibri"/>
              </a:rPr>
              <a:t>✅  Moderated content — every upload &amp; review is checked by an admin before going live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0A0F"/>
                </a:solidFill>
                <a:latin typeface="Calibri"/>
              </a:rPr>
              <a:t>✅  Fast server-side search with filters (course, type) and instant debounced suggestions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0A0F"/>
                </a:solidFill>
                <a:latin typeface="Calibri"/>
              </a:rPr>
              <a:t>✅  Load More + infinite scroll — 12 papers per page, no full page reloads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0A0F"/>
                </a:solidFill>
                <a:latin typeface="Calibri"/>
              </a:rPr>
              <a:t>✅  One-click downloads as PDF with download counters &amp; trending section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0A0F"/>
                </a:solidFill>
                <a:latin typeface="Calibri"/>
              </a:rPr>
              <a:t>✅  Google sign-in with bookmarks, star ratings and user profiles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0A0F"/>
                </a:solidFill>
                <a:latin typeface="Calibri"/>
              </a:rPr>
              <a:t>✅  Admin dashboard with stats, moderation and paper editing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0A0F"/>
                </a:solidFill>
                <a:latin typeface="Calibri"/>
              </a:rPr>
              <a:t>✅  Email notifications for new uploads, reviews and contact messages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06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Key Features (1/2)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Browse, Search &amp; Download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Server-side search — queries the API, not the browser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400ms debounced input — only searches when you pause typing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Filters by course &amp; type (PYQ / Notes / Paper / Booklet)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Pagination: 12 papers per page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Load More button + Infinite Scroll (IntersectionObserver)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“Reached the end” marker when results run out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Sorting: Newest or Most Downloaded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Trending section — top 10 papers by downloads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Download counter on every paper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University listing page with per-university paper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07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Key Features (2/2)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Upload, Community &amp;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Upload papers (PDF, images, docs) — requires sign-in, file goes to Cloudinary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Uploads start as 'pending' and appear only after admin approval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Bookmarks — save papers, list them, toggle on/off (requires sign-in)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Star ratings &amp; reviews — top 3 highest-rated shown on the homepage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Email notifications via Resend for uploads, reviews &amp; contact form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Admin panel: stats dashboard, approve/reject, edit papers (title, type, course, university, year), delete, manage users &amp; reviews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Profile page: your uploads &amp; bookmarks, editable name/avatar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Feedback form in the footer (suggestion / bug / missing paper / other)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08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Tech Stack at a Glance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Every technology used in this project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480560"/>
              </a:tblGrid>
              <a:tr h="379827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T="38100" marB="38100" marL="101600" marR="76200"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T="38100" marB="38100" marL="101600" marR="76200"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does here</a:t>
                      </a:r>
                    </a:p>
                  </a:txBody>
                  <a:tcPr marT="38100" marB="38100" marL="101600" marR="76200">
                    <a:solidFill>
                      <a:srgbClr val="0A0A0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Vanilla HTML + CSS + JavaScript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Single-page UI, no framework — fast &amp; lightweight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Node.js + Express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REST API, routes, middleware, auth, rate limiting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Firebase Firestore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NoSQL cloud database for papers, users, reviews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Authentication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Firebase Auth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Google sign-in (JWT tokens)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File Storage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Cloudinary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Hosts uploaded PDFs/images + delivers downloads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Resend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Sends notifications to the admin's Gmail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Zod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Runtime env-var &amp; input schema validation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File Uploads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Multer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Multipart form parsing on the server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Helmet + CORS + rate-limit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HTTP headers, cross-origin policy, brute-force protection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Hosting (Frontend)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Vercel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Static hosting for public/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Hosting (API)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Render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Node server hosting with auto-deploys</a:t>
                      </a:r>
                    </a:p>
                  </a:txBody>
                  <a:tcPr marT="38100" marB="38100" marL="101600" marR="76200">
                    <a:solidFill>
                      <a:srgbClr val="F5F5FA"/>
                    </a:solidFill>
                  </a:tcPr>
                </a:tc>
              </a:tr>
              <a:tr h="3798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CI/CD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GitHub Actions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A0A0F"/>
                          </a:solidFill>
                          <a:latin typeface="Calibri"/>
                        </a:rPr>
                        <a:t>Runs syntax checks + tests on every push</a:t>
                      </a:r>
                    </a:p>
                  </a:txBody>
                  <a:tcPr marT="38100" marB="38100" marL="1016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09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How the pieces fit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6C63FF"/>
                </a:solidFill>
                <a:latin typeface="Calibri"/>
              </a:rPr>
              <a:t>User flow: Browser  →  API  → 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10972800" cy="82296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1. Browser (Frontend)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public/ — index.html, app.js, style.css. Firebase Auth sign-in happens here; tokens are sent as Bearer headers.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17520"/>
            <a:ext cx="10972800" cy="822960"/>
          </a:xfrm>
          <a:prstGeom prst="rect">
            <a:avLst/>
          </a:prstGeom>
          <a:solidFill>
            <a:srgbClr val="43E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2. Express API (Backend)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server.js + routes/ — validates the JWT, rate-limits, sanitizes input, queries Firestore, talks to Cloudinary.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77639"/>
            <a:ext cx="10972800" cy="822960"/>
          </a:xfrm>
          <a:prstGeom prst="rect">
            <a:avLst/>
          </a:prstGeom>
          <a:solidFill>
            <a:srgbClr val="FF6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7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3. Firebase Firestore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Stores papers, users, reviews, bookmarks, feedback, contacts. All writes go through the API (Admin SDK).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937759"/>
            <a:ext cx="10972800" cy="8229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19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4. Cloudinary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Stores the actual uploaded files; serves secure HTTPS URLs and forced-download links.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897879"/>
            <a:ext cx="10972800" cy="82296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98931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5. Resend (optional)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Sends email to studyvaultapp@gmail.com on new uploads, reviews and contact submissions.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10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Frontend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Vanilla HTML, CSS &amp; JavaScript — no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50" b="1">
                <a:solidFill>
                  <a:srgbClr val="0A0A0F"/>
                </a:solidFill>
                <a:latin typeface="Calibri"/>
              </a:rPr>
              <a:t>▪  index.html — hero, stats, search, upload, courses, testimonials, modals (About, Contribute, Developer, Privacy, DMCA), footer</a:t>
            </a:r>
          </a:p>
          <a:p>
            <a:pPr>
              <a:spcAft>
                <a:spcPts val="700"/>
              </a:spcAft>
            </a:pPr>
            <a:r>
              <a:rPr sz="1650" b="1">
                <a:solidFill>
                  <a:srgbClr val="0A0A0F"/>
                </a:solidFill>
                <a:latin typeface="Calibri"/>
              </a:rPr>
              <a:t>▪  app.js — all frontend logic: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6E6E7A"/>
                </a:solidFill>
                <a:latin typeface="Calibri"/>
              </a:rPr>
              <a:t>•  Firebase Auth (Google sign-in), profile &amp; avatar management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6E6E7A"/>
                </a:solidFill>
                <a:latin typeface="Calibri"/>
              </a:rPr>
              <a:t>•  debouncedSearch() → buildSearchParams() → performSearch() (server-side)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6E6E7A"/>
                </a:solidFill>
                <a:latin typeface="Calibri"/>
              </a:rPr>
              <a:t>•  Load More + infinite scroll via IntersectionObserver on #scrollSentinel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6E6E7A"/>
                </a:solidFill>
                <a:latin typeface="Calibri"/>
              </a:rPr>
              <a:t>•  Bookmarks, reviews, uploads, feedback — all via fetch() to the API</a:t>
            </a:r>
          </a:p>
          <a:p>
            <a:pPr>
              <a:spcAft>
                <a:spcPts val="700"/>
              </a:spcAft>
            </a:pPr>
            <a:r>
              <a:rPr sz="1350">
                <a:solidFill>
                  <a:srgbClr val="6E6E7A"/>
                </a:solidFill>
                <a:latin typeface="Calibri"/>
              </a:rPr>
              <a:t>•  esc() helper — XSS-safe HTML rendering of all user content</a:t>
            </a:r>
          </a:p>
          <a:p>
            <a:pPr>
              <a:spcAft>
                <a:spcPts val="700"/>
              </a:spcAft>
            </a:pPr>
            <a:r>
              <a:rPr sz="1650" b="1">
                <a:solidFill>
                  <a:srgbClr val="0A0A0F"/>
                </a:solidFill>
                <a:latin typeface="Calibri"/>
              </a:rPr>
              <a:t>▪  style.css — dark theme, brand colors (#6c63ff indigo, #43e8b0 green, #ff6584 pink)</a:t>
            </a:r>
          </a:p>
          <a:p>
            <a:pPr>
              <a:spcAft>
                <a:spcPts val="700"/>
              </a:spcAft>
            </a:pPr>
            <a:r>
              <a:rPr sz="1650" b="1">
                <a:solidFill>
                  <a:srgbClr val="0A0A0F"/>
                </a:solidFill>
                <a:latin typeface="Calibri"/>
              </a:rPr>
              <a:t>▪  logo.svg — custom hexagon 'SV' logo (transparent, works on any background)</a:t>
            </a:r>
          </a:p>
          <a:p>
            <a:pPr>
              <a:spcAft>
                <a:spcPts val="700"/>
              </a:spcAft>
            </a:pPr>
            <a:r>
              <a:rPr sz="1650" b="1">
                <a:solidFill>
                  <a:srgbClr val="0A0A0F"/>
                </a:solidFill>
                <a:latin typeface="Calibri"/>
              </a:rPr>
              <a:t>▪  admin.html + admin.js + admin.css — separate admin panel (loads only its own CSS)</a:t>
            </a:r>
          </a:p>
          <a:p>
            <a:pPr>
              <a:spcAft>
                <a:spcPts val="700"/>
              </a:spcAft>
            </a:pPr>
            <a:r>
              <a:rPr sz="1650" b="1">
                <a:solidFill>
                  <a:srgbClr val="0A0A0F"/>
                </a:solidFill>
                <a:latin typeface="Calibri"/>
              </a:rPr>
              <a:t>▪  meta tags: SEO description, Open Graph, Twitter cards, JSON-LD schema, Google Search Console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11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Backend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Node.js + Express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server.js — entry point: env validation → service init → middleware → routes → error handler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Config layer (config/): env.js (Zod), firebase.js (Admin SDK), cloudinary.js, email.js (Resend)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Middleware (middleware/): auth (verifyToken / optionalAuth / requireAdminAuth), rateLimit, upload (Multer), sanitize (stripDangerous), errorHandler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Modular routers (routes/): papers, bookmarks, reviews, feedback, admin, users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Backward-compatible redirect: /api/papers-list → /api/papers (301)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Health check endpoint + graceful shutdown on SIGTERM/SIGINT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CORS whitelist: production domain + localhost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Structured logging &amp; global error handler as last middleware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Start command: node server.js  ·  env PORT defaults to 3000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12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Database — Firebase Firestore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NoSQL cloud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6C63FF"/>
                </a:solidFill>
                <a:latin typeface="Calibri"/>
              </a:rPr>
              <a:t>Collections: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6C63FF"/>
                </a:solidFill>
                <a:latin typeface="Calibri"/>
              </a:rPr>
              <a:t>•  papers — </a:t>
            </a:r>
            <a:r>
              <a:rPr sz="1400">
                <a:solidFill>
                  <a:srgbClr val="0A0A0F"/>
                </a:solidFill>
                <a:latin typeface="Calibri"/>
              </a:rPr>
              <a:t>title, course, type (pyq/notes/paper/booklet), year, university, tags[], downloadURL, fileName, downloads, status (pending/approved/rejected), uploadedBy, uploaderName, createdAt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6C63FF"/>
                </a:solidFill>
                <a:latin typeface="Calibri"/>
              </a:rPr>
              <a:t>•  users — </a:t>
            </a:r>
            <a:r>
              <a:rPr sz="1400">
                <a:solidFill>
                  <a:srgbClr val="0A0A0F"/>
                </a:solidFill>
                <a:latin typeface="Calibri"/>
              </a:rPr>
              <a:t>name, email, picture, joinedAt (document ID = Firebase UID)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6C63FF"/>
                </a:solidFill>
                <a:latin typeface="Calibri"/>
              </a:rPr>
              <a:t>•  reviews — </a:t>
            </a:r>
            <a:r>
              <a:rPr sz="1400">
                <a:solidFill>
                  <a:srgbClr val="0A0A0F"/>
                </a:solidFill>
                <a:latin typeface="Calibri"/>
              </a:rPr>
              <a:t>paperId, userId, userName, rating (1–5), text, status, createdAt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6C63FF"/>
                </a:solidFill>
                <a:latin typeface="Calibri"/>
              </a:rPr>
              <a:t>•  bookmarks — </a:t>
            </a:r>
            <a:r>
              <a:rPr sz="1400">
                <a:solidFill>
                  <a:srgbClr val="0A0A0F"/>
                </a:solidFill>
                <a:latin typeface="Calibri"/>
              </a:rPr>
              <a:t>userId, paperId, createdAt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6C63FF"/>
                </a:solidFill>
                <a:latin typeface="Calibri"/>
              </a:rPr>
              <a:t>•  feedback — </a:t>
            </a:r>
            <a:r>
              <a:rPr sz="1400">
                <a:solidFill>
                  <a:srgbClr val="0A0A0F"/>
                </a:solidFill>
                <a:latin typeface="Calibri"/>
              </a:rPr>
              <a:t>type, message, name?, email?, createdAt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6C63FF"/>
                </a:solidFill>
                <a:latin typeface="Calibri"/>
              </a:rPr>
              <a:t>•  contacts — </a:t>
            </a:r>
            <a:r>
              <a:rPr sz="1400">
                <a:solidFill>
                  <a:srgbClr val="0A0A0F"/>
                </a:solidFill>
                <a:latin typeface="Calibri"/>
              </a:rPr>
              <a:t>name, email, message, createdAt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6C63FF"/>
                </a:solidFill>
                <a:latin typeface="Calibri"/>
              </a:rPr>
              <a:t>•  admins — </a:t>
            </a:r>
            <a:r>
              <a:rPr sz="1400">
                <a:solidFill>
                  <a:srgbClr val="0A0A0F"/>
                </a:solidFill>
                <a:latin typeface="Calibri"/>
              </a:rPr>
              <a:t>document ID = UID, role: 'admin'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6C63FF"/>
                </a:solidFill>
                <a:latin typeface="Calibri"/>
              </a:rPr>
              <a:t>Composite indexes required (Firestore Console → Indexes):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0A0A0F"/>
                </a:solidFill>
                <a:latin typeface="Consolas"/>
              </a:rPr>
              <a:t>papers: status ASC + createdAt DESC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0A0F"/>
                </a:solidFill>
                <a:latin typeface="Consolas"/>
              </a:rPr>
              <a:t>bookmarks: userId ASC + createdAt DESC   ·   bookmarks: userId ASC + paperId ASC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13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Authentication &amp; Security Rules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Firebase Auth + firestore.rules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Firebase Auth with Google sign-in provider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Frontend sends ID token → server verifies with Firebase Admin SDK → sets req.user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verifyToken — any signed-in user; requireAdminAuth — must also be in admins collection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firestore.rules lock down client access: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(1, 'Client writes to papers / reviews / feedback / contacts are DENIED')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(1, 'Bookmarks: users can only read/delete their own (userId == request.auth.uid)')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(1, 'users: users can only touch their own doc, and only fields name, email, picture')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(1, 'Admin operations require an admin flag')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All real writes happen server-side via Admin SDK (bypasses rules, enforces moderation)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A0A0F"/>
                </a:solidFill>
                <a:latin typeface="Calibri"/>
              </a:rPr>
              <a:t>✅  Deploy with: firebase deploy --only firestore:rules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14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Cloudinary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File storage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What it is: cloud-based media storage + transformation + delivery (CDN)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Why we use it: uploading PDFs/images to your own server is slow &amp; fragile — Cloudinary handles it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Role in StudyVault: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7A"/>
                </a:solidFill>
                <a:latin typeface="Calibri"/>
              </a:rPr>
              <a:t>•  Every upload is sent to Cloudinary with resource_type 'auto'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7A"/>
                </a:solidFill>
                <a:latin typeface="Calibri"/>
              </a:rPr>
              <a:t>•  Files stored under the 'studyvault' folder with a public upload preset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7A"/>
                </a:solidFill>
                <a:latin typeface="Calibri"/>
              </a:rPr>
              <a:t>•  Returns a secure HTTPS URL + a forced-download URL (fl_attachment transformation)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Downloads are served straight from Cloudinary's CDN — zero load on the API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Uses: cloud_name, api_key, api_secret (from the Dashboard)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15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Resend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Email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What it is: developer-friendly email API with a free tier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Why we use it: to notify the admin without running an SMTP server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Role in StudyVault: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7A"/>
                </a:solidFill>
                <a:latin typeface="Calibri"/>
              </a:rPr>
              <a:t>•  New paper uploaded → email with title, course, type, uploader name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7A"/>
                </a:solidFill>
                <a:latin typeface="Calibri"/>
              </a:rPr>
              <a:t>•  New review posted → email with name, rating, review text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6E6E7A"/>
                </a:solidFill>
                <a:latin typeface="Calibri"/>
              </a:rPr>
              <a:t>•  Contact form submitted → email with name, email, message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All emails go to studyvaultapp@gmail.com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Uses RESEND_API_KEY (optional) — if unset, emails are silently skipped, data still saved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16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Hosting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Vercel (frontend) + Render (API)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6C63FF"/>
                </a:solidFill>
                <a:latin typeface="Calibri"/>
              </a:rPr>
              <a:t>Vercel — static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0A0A0F"/>
                </a:solidFill>
                <a:latin typeface="Calibri"/>
              </a:rPr>
              <a:t>▪  Connects to the GitHub repo; Root Directory = public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0A0A0F"/>
                </a:solidFill>
                <a:latin typeface="Calibri"/>
              </a:rPr>
              <a:t>▪  No build step — pure static files, deployed on every git push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0A0A0F"/>
                </a:solidFill>
                <a:latin typeface="Calibri"/>
              </a:rPr>
              <a:t>▪  Delivers the site over HTTPS: studyvaultapp.vercel.app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6C63FF"/>
                </a:solidFill>
                <a:latin typeface="Calibri"/>
              </a:rPr>
              <a:t>Render — API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0A0A0F"/>
                </a:solidFill>
                <a:latin typeface="Calibri"/>
              </a:rPr>
              <a:t>▪  Web Service connected to GitHub, Start Command: node server.js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0A0A0F"/>
                </a:solidFill>
                <a:latin typeface="Calibri"/>
              </a:rPr>
              <a:t>▪  Environment variables pasted from .env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0A0A0F"/>
                </a:solidFill>
                <a:latin typeface="Calibri"/>
              </a:rPr>
              <a:t>▪  Must set NODE_OPTIONS=--openssl-legacy-provider (firebase-admin + Node 22/OpenSSL 3.x)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0A0A0F"/>
                </a:solidFill>
                <a:latin typeface="Calibri"/>
              </a:rPr>
              <a:t>▪  app.set('trust proxy', 1) already in server.js (behind Render's reverse proxy)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0A0A0F"/>
                </a:solidFill>
                <a:latin typeface="Calibri"/>
              </a:rPr>
              <a:t>▪  Free tier sleeps after ~15 min idle → cold start takes 30–60 s on first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17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Account Setup — Firebase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Step-by-step (server + web)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1. Go to console.firebase.google.com → Create a project (name it, e.g. studyvault)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2. Build → Firestore Database → Create database (choose a region, start in Test Mode)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3. Server-side (Admin SDK): Project Settings → Service Accounts → Generate new private key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E6E7A"/>
                </a:solidFill>
                <a:latin typeface="Calibri"/>
              </a:rPr>
              <a:t>•  Download the JSON file — keep project_id, client_email, private_key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4. Web (client): Project Settings → Your apps → Add web app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6E6E7A"/>
                </a:solidFill>
                <a:latin typeface="Calibri"/>
              </a:rPr>
              <a:t>•  Copy the firebaseConfig object — apiKey, authDomain, projectId, appId, messagingSenderId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5. Authentication → Sign-in method → Enable Google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6. After the app runs, create the 3 composite indexes (see slide 12)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7. Making an admin: create collection 'admins', document ID = user UID, field role: 'admin'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8. Production: deploy firestore.rules (firebase deploy --only firestore:rules)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18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Account Setup — Cloudinary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1. Sign up for free at cloudinary.com (or continue with Google)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2. The Dashboard shows your cloud credentials immediately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3. Copy: Cloud Name, API Key, API Secret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4. (Optional) Settings → Upload → add an unsigned preset 'studyvault_public'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6E6E7A"/>
                </a:solidFill>
                <a:latin typeface="Calibri"/>
              </a:rPr>
              <a:t>•  The upload preset allows client-side uploads without exposing your API secret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5. Paste the 3 credentials into your .env file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Note: files are stored in the 'studyvault' folder and returned as HTTPS URLs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19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Account Setup — Resend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Step-by-step (optional)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1. Sign up for free at resend.com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2. Go to API Keys → Create API Key → copy the re_xxx value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3. Add RESEND_API_KEY=re_xxx to your .env file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4. In config/email.js the recipient is hardcoded to studyvaultapp@gmail.com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5. Without the key the app works fine — emails are just skipped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20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Deploy Setup — Vercel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Frontend hosting,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1. Sign up at vercel.com (import from GitHub)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2. Import the StudyVault repository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3. In the import settings set Root Directory to: public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4. Framework Preset: leave as-is (static / other)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5. Deploy — Vercel automatically builds &amp; serves the static site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6. Every push to main redeploys automatically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7. (Optional) Add your own domain in Project → Settings → Domains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21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Deploy Setup — Render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API hosting,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1. Sign up at render.com → New → Web Service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2. Connect your GitHub repo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3. Name: studyvault-api; Start Command: node server.js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4. Add ALL environment variables from your .env file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5. Add NODE_OPTIONS=--openssl-legacy-provider (firebase-admin / OpenSSL 3.x fix)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6. Instance type: Free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7. Create Web Service → Render builds &amp; runs your API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8. The API URL looks like: https://studyvault-api.onrender.com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E6E7A"/>
                </a:solidFill>
                <a:latin typeface="Calibri"/>
              </a:rPr>
              <a:t>•  Tip: prefix API URL in the frontend if your domain differs from the default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E6E7A"/>
                </a:solidFill>
                <a:latin typeface="Calibri"/>
              </a:rPr>
              <a:t>•  Free tier cold-start: ~30–60 s after idle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22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Environment Variables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.env file — every single one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194560"/>
                <a:gridCol w="4937760"/>
              </a:tblGrid>
              <a:tr h="357447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T="25400" marB="25400" marL="101600" marR="76200"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Required?</a:t>
                      </a:r>
                    </a:p>
                  </a:txBody>
                  <a:tcPr marT="25400" marB="25400" marL="101600" marR="76200"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Where from / purpose</a:t>
                      </a:r>
                    </a:p>
                  </a:txBody>
                  <a:tcPr marT="25400" marB="25400" marL="101600" marR="76200">
                    <a:solidFill>
                      <a:srgbClr val="0A0A0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FIREBASE_PROJECT_ID</a:t>
                      </a:r>
                    </a:p>
                  </a:txBody>
                  <a:tcPr marT="25400" marB="254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5400" marB="254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Firebase service-account JSON</a:t>
                      </a:r>
                    </a:p>
                  </a:txBody>
                  <a:tcPr marT="25400" marB="25400" marL="101600" marR="76200">
                    <a:solidFill>
                      <a:srgbClr val="F5F5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FIREBASE_CLIENT_EMAIL</a:t>
                      </a:r>
                    </a:p>
                  </a:txBody>
                  <a:tcPr marT="25400" marB="254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5400" marB="254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Firebase service-account JSON</a:t>
                      </a:r>
                    </a:p>
                  </a:txBody>
                  <a:tcPr marT="25400" marB="25400" marL="101600" marR="76200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FIREBASE_PRIVATE_KEY</a:t>
                      </a:r>
                    </a:p>
                  </a:txBody>
                  <a:tcPr marT="25400" marB="254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5400" marB="254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Firebase service-account JSON (wrap in quotes, keep \n)</a:t>
                      </a:r>
                    </a:p>
                  </a:txBody>
                  <a:tcPr marT="25400" marB="25400" marL="101600" marR="76200">
                    <a:solidFill>
                      <a:srgbClr val="F5F5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CLOUDINARY_CLOUD_NAME</a:t>
                      </a:r>
                    </a:p>
                  </a:txBody>
                  <a:tcPr marT="25400" marB="254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5400" marB="254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Cloudinary Dashboard</a:t>
                      </a:r>
                    </a:p>
                  </a:txBody>
                  <a:tcPr marT="25400" marB="25400" marL="101600" marR="76200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CLOUDINARY_API_KEY</a:t>
                      </a:r>
                    </a:p>
                  </a:txBody>
                  <a:tcPr marT="25400" marB="254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5400" marB="254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Cloudinary Dashboard</a:t>
                      </a:r>
                    </a:p>
                  </a:txBody>
                  <a:tcPr marT="25400" marB="25400" marL="101600" marR="76200">
                    <a:solidFill>
                      <a:srgbClr val="F5F5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CLOUDINARY_API_SECRET</a:t>
                      </a:r>
                    </a:p>
                  </a:txBody>
                  <a:tcPr marT="25400" marB="254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5400" marB="254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Cloudinary Dashboard</a:t>
                      </a:r>
                    </a:p>
                  </a:txBody>
                  <a:tcPr marT="25400" marB="25400" marL="101600" marR="76200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RESEND_API_KEY</a:t>
                      </a:r>
                    </a:p>
                  </a:txBody>
                  <a:tcPr marT="25400" marB="254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T="25400" marB="254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Resend → API Keys</a:t>
                      </a:r>
                    </a:p>
                  </a:txBody>
                  <a:tcPr marT="25400" marB="25400" marL="101600" marR="76200">
                    <a:solidFill>
                      <a:srgbClr val="F5F5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ADMIN_KEY</a:t>
                      </a:r>
                    </a:p>
                  </a:txBody>
                  <a:tcPr marT="25400" marB="254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T="25400" marB="254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Legacy admin bootstrap key</a:t>
                      </a:r>
                    </a:p>
                  </a:txBody>
                  <a:tcPr marT="25400" marB="25400" marL="101600" marR="76200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PORT</a:t>
                      </a:r>
                    </a:p>
                  </a:txBody>
                  <a:tcPr marT="25400" marB="254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Defaults 3000</a:t>
                      </a:r>
                    </a:p>
                  </a:txBody>
                  <a:tcPr marT="25400" marB="25400" marL="101600" marR="762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Server port (Render overrides this)</a:t>
                      </a:r>
                    </a:p>
                  </a:txBody>
                  <a:tcPr marT="25400" marB="25400" marL="101600" marR="76200">
                    <a:solidFill>
                      <a:srgbClr val="F5F5FA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NODE_ENV</a:t>
                      </a:r>
                    </a:p>
                  </a:txBody>
                  <a:tcPr marT="25400" marB="254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T="25400" marB="25400"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A0A0F"/>
                          </a:solidFill>
                          <a:latin typeface="Calibri"/>
                        </a:rPr>
                        <a:t>'production' masks error details in health check</a:t>
                      </a:r>
                    </a:p>
                  </a:txBody>
                  <a:tcPr marT="25400" marB="25400" marL="1016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4924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43E8B0"/>
                </a:solidFill>
                <a:latin typeface="Consolas"/>
              </a:rPr>
              <a:t>FIREBASE_PRIVATE_KEY="-----BEGIN PRIVATE KEY-----\n...\n-----END PRIVATE KEY-----\n"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23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Project Structure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Folder layout of the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43E8B0"/>
                </a:solidFill>
                <a:latin typeface="Consolas"/>
              </a:rPr>
              <a:t>StudyVault/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43E8B0"/>
                </a:solidFill>
                <a:latin typeface="Consolas"/>
              </a:rPr>
              <a:t>├─ server.js                  Express entry point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43E8B0"/>
                </a:solidFill>
                <a:latin typeface="Consolas"/>
              </a:rPr>
              <a:t>├─ firestore.rules            Firestore security rules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43E8B0"/>
                </a:solidFill>
                <a:latin typeface="Consolas"/>
              </a:rPr>
              <a:t>├─ config/                    env.js · firebase.js · cloudinary.js · email.js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43E8B0"/>
                </a:solidFill>
                <a:latin typeface="Consolas"/>
              </a:rPr>
              <a:t>├─ middleware/                auth.js · rateLimit.js · upload.js · sanitize.js · errorHandler.js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43E8B0"/>
                </a:solidFill>
                <a:latin typeface="Consolas"/>
              </a:rPr>
              <a:t>├─ routes/                    papers.js · bookmarks.js · reviews.js · feedback.js · admin.js · users.js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43E8B0"/>
                </a:solidFill>
                <a:latin typeface="Consolas"/>
              </a:rPr>
              <a:t>├─ scripts/                   migrate-status.js (legacy data migration)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43E8B0"/>
                </a:solidFill>
                <a:latin typeface="Consolas"/>
              </a:rPr>
              <a:t>├─ utils/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43E8B0"/>
                </a:solidFill>
                <a:latin typeface="Consolas"/>
              </a:rPr>
              <a:t>├─ __tests__/api.test.js      integration tests (14 passing)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43E8B0"/>
                </a:solidFill>
                <a:latin typeface="Consolas"/>
              </a:rPr>
              <a:t>├─ .github/workflows/ci.yml   CI on Node 18/20/22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43E8B0"/>
                </a:solidFill>
                <a:latin typeface="Consolas"/>
              </a:rPr>
              <a:t>├─ public/                    index.html · admin.html · app.js · admin.js · style.css · admin.css · logo.svg · favicon.ico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43E8B0"/>
                </a:solidFill>
                <a:latin typeface="Consolas"/>
              </a:rPr>
              <a:t>├─ .env                       local secrets (NOT committed)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43E8B0"/>
                </a:solidFill>
                <a:latin typeface="Consolas"/>
              </a:rPr>
              <a:t>├─ package.json · package-lock.json · .gitignore · 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24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How to Run the Project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Step-by-step local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43E8B0"/>
                </a:solidFill>
                <a:latin typeface="Consolas"/>
              </a:rPr>
              <a:t># 1. Clone &amp; install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43E8B0"/>
                </a:solidFill>
                <a:latin typeface="Consolas"/>
              </a:rPr>
              <a:t>git clone https://github.com/umar24nov/StudyVault.git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43E8B0"/>
                </a:solidFill>
                <a:latin typeface="Consolas"/>
              </a:rPr>
              <a:t>cd StudyVault &amp;&amp; npm install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43E8B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43E8B0"/>
                </a:solidFill>
                <a:latin typeface="Consolas"/>
              </a:rPr>
              <a:t># 2. Create .env (see slide 22) with Firebase + Cloudinary keys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43E8B0"/>
                </a:solidFill>
                <a:latin typeface="Consolas"/>
              </a:rPr>
              <a:t>#    (optional: RESEND_API_KEY)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43E8B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43E8B0"/>
                </a:solidFill>
                <a:latin typeface="Consolas"/>
              </a:rPr>
              <a:t># 3. Paste your firebaseConfig into public/index.html &amp; public/admin.html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43E8B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43E8B0"/>
                </a:solidFill>
                <a:latin typeface="Consolas"/>
              </a:rPr>
              <a:t># 4. Start the server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43E8B0"/>
                </a:solidFill>
                <a:latin typeface="Consolas"/>
              </a:rPr>
              <a:t>node server.js        # or: npm start / npm run dev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43E8B0"/>
                </a:solidFill>
                <a:latin typeface="Consolas"/>
              </a:rPr>
              <a:t>#    → open http://localhost:3000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43E8B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43E8B0"/>
                </a:solidFill>
                <a:latin typeface="Consolas"/>
              </a:rPr>
              <a:t># 5. Create Firestore composite indexes (slide 12) for search to work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43E8B0"/>
                </a:solidFill>
                <a:latin typeface="Consolas"/>
              </a:rPr>
              <a:t># 6. To run tests:  npm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25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API Endpoints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Complete REST reference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2999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669280"/>
                <a:gridCol w="1005840"/>
                <a:gridCol w="3749039"/>
              </a:tblGrid>
              <a:tr h="2186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19050" marB="19050" marL="76200" marR="50800"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T="19050" marB="19050" marL="76200" marR="50800"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marT="19050" marB="19050" marL="76200" marR="50800"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T="19050" marB="19050" marL="76200" marR="50800">
                    <a:solidFill>
                      <a:srgbClr val="0A0A0F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/api/papers?course=&amp;type=&amp;search=&amp;page=&amp;limit=&amp;sort=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Search / paginate approved papers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/api/papers/trending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Top 10 by downloads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/api/papers/universities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Unique universities + counts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/api/papers/university/:name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Papers of one university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/api/papers/:id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Single approved paper (404 if hidden)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/api/papers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Upload a paper (file + fields) → pending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/api/papers/:id/download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Increment download counter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/api/reviews?paperId=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Approved reviews for a paper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/api/reviews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Submit a review (goes to moderation)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GET/POST/DELETE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/api/bookmarks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List / add / remove bookmarks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/api/bookmarks/check/:paperId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Is paper bookmarked?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GET/PUT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/api/users/me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 / update profile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/api/users/me/uploads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My uploaded papers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/api/users/me/register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Create user doc on first login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/api/feedback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Footer feedback form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/api/feedback/contact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Contact form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/api/admin/stats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Dashboard statistics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GET/PATCH/DELETE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/api/admin/papers/:id...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Edit / approve / reject / delete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GET/PATCH/DELETE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/api/admin/reviews/:id...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Moderate reviews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/api/admin/users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List users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</a:tr>
              <a:tr h="21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/api/admin/feedback/:id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Delete feedback</a:t>
                      </a:r>
                    </a:p>
                  </a:txBody>
                  <a:tcPr marT="19050" marB="19050" marL="76200" marR="50800">
                    <a:solidFill>
                      <a:srgbClr val="F5F5FA"/>
                    </a:solidFill>
                  </a:tcPr>
                </a:tc>
              </a:tr>
              <a:tr h="218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/api/health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A0A0F"/>
                          </a:solidFill>
                          <a:latin typeface="Calibri"/>
                        </a:rPr>
                        <a:t>Health check</a:t>
                      </a:r>
                    </a:p>
                  </a:txBody>
                  <a:tcPr marT="19050" marB="19050" marL="762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26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Security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Everything done to harden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Firestore rules deny ALL client writes to papers/reviews/feedback/contacts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Non-approved papers return 404 — nothing unpublished ever leaks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Input sanitization: stripDangerous() on all server inputs (titles, names, filenames, admin edits)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XSS-safe rendering: global esc() / escAttr() helpers in the frontend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Length caps on every field (title ≤ 200, course ≤ 100, name ≤ 100, etc.)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Rate limiting per endpoint (upload, download, write, API-wide)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Helmet security headers + strict CORS whitelist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JWT verification on every protected route; admin-only routes check the admins collection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Avatars only from https URLs; health check masks error details in production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Multer temp files deleted after upload; files served from Cloudinary, never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27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Testing &amp; CI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How the code is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Test runner: Node.js built-in test runner (node --test) — zero extra deps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Test file: __tests__/api.test.js — integration tests against an Express app with mocked Firestore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Covered: papers list &amp; filters, trending, universities, downloads, single-paper (404 for pending), reviews, feedback, contact, admin auth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14 tests passing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Mocking: docOverride lets tests inject fake Firestore documents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GitHub Actions (ci.yml):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6E6E7A"/>
                </a:solidFill>
                <a:latin typeface="Calibri"/>
              </a:rPr>
              <a:t>•  Matrix on Node 18 / 20 / 22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6E6E7A"/>
                </a:solidFill>
                <a:latin typeface="Calibri"/>
              </a:rPr>
              <a:t>•  Syntax checks on server.js, config/*, middleware/*, routes/*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6E6E7A"/>
                </a:solidFill>
                <a:latin typeface="Calibri"/>
              </a:rPr>
              <a:t>•  npm test with dummy env vars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A0A0F"/>
                </a:solidFill>
                <a:latin typeface="Calibri"/>
              </a:rPr>
              <a:t>▪  Run locally: npm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28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Admin Panel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Full content management at /admin.html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Dashboard stats — total papers, users, reviews, downloads, pending uploads, recent uploads (7 days)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Course breakdown &amp; type breakdown charts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Papers table — filter by status (all / pending / approved / rejected), sort by newest or popular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One-click approve / reject with reviewer tracking (reviewedBy, reviewedAt)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Edit papers — change title, type (PYQ/Notes/Paper/Booklet), course, university, year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Delete papers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Reviews moderation — approve / reject / delete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Users list — latest 100 signed-up users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Feedback / contact messages — view &amp; delete</a:t>
            </a:r>
          </a:p>
          <a:p>
            <a:pPr>
              <a:spcAft>
                <a:spcPts val="700"/>
              </a:spcAft>
            </a:pPr>
            <a:r>
              <a:rPr sz="1650">
                <a:solidFill>
                  <a:srgbClr val="0A0A0F"/>
                </a:solidFill>
                <a:latin typeface="Calibri"/>
              </a:rPr>
              <a:t>✅  Admin-only entry: user must exist in the admins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29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Deployment &amp; Live Links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Where the app actually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0A0A0F"/>
                </a:solidFill>
                <a:latin typeface="Calibri"/>
              </a:rPr>
              <a:t>✅  Live site (Vercel):  https://studyvaultapp.vercel.app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A0A0F"/>
                </a:solidFill>
                <a:latin typeface="Calibri"/>
              </a:rPr>
              <a:t>✅  API (Render):       https://studyvault-api.onrender.com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A0A0F"/>
                </a:solidFill>
                <a:latin typeface="Calibri"/>
              </a:rPr>
              <a:t>✅  GitHub repo:        https://github.com/umar24nov/StudyVault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A0A0F"/>
                </a:solidFill>
                <a:latin typeface="Calibri"/>
              </a:rPr>
              <a:t>✅  Auto-deploys: every push to main updates both Vercel &amp; Render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A0A0F"/>
                </a:solidFill>
                <a:latin typeface="Calibri"/>
              </a:rPr>
              <a:t>✅  CI runs on every push before deploy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A0A0F"/>
                </a:solidFill>
                <a:latin typeface="Calibri"/>
              </a:rPr>
              <a:t>✅  SEO: sitemap.xml, robots.txt, JSON-LD, Open Graph, Google Search Console verified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A0A0F"/>
                </a:solidFill>
                <a:latin typeface="Calibri"/>
              </a:rPr>
              <a:t>✅  Free-tier notes: Render cold-start 30–60 s; Firestore free quota ≈ 50k reads/day (~3–10k page 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3E8B0"/>
                </a:solidFill>
                <a:latin typeface="Calibri"/>
              </a:rPr>
              <a:t>30</a:t>
            </a:r>
          </a:p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Future Scope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BBC6"/>
                </a:solidFill>
                <a:latin typeface="Calibri"/>
              </a:rPr>
              <a:t>Where StudyVault can go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More content types — video lectures, handwritten notes, MCQs banks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Advanced search — full-text index (Algolia / Firestore full-text)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Spaced-repetition &amp; note-taking features inside the vault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Community features — user profiles, reputation points, leaderboards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Verified uploads — institution/teacher verification badge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Mobile app (React Native / Flutter) reusing this API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Email digests — weekly 'new papers in your course' notifications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Analytics — per-paper view counts, heatmaps, admin insights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A0A0F"/>
                </a:solidFill>
                <a:latin typeface="Calibri"/>
              </a:rPr>
              <a:t>▪  Monetization options later: premium verified papers, sponsorships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E6E7A"/>
                </a:solidFill>
                <a:latin typeface="Calibri"/>
              </a:rPr>
              <a:t>StudyVault  ·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Thank You! 🙏</a:t>
            </a:r>
          </a:p>
          <a:p>
            <a:pPr algn="l">
              <a:spcAft>
                <a:spcPts val="2000"/>
              </a:spcAft>
            </a:pPr>
            <a:r>
              <a:rPr sz="2800" b="0" i="0">
                <a:solidFill>
                  <a:srgbClr val="43E8B0"/>
                </a:solidFill>
                <a:latin typeface="Calibri"/>
              </a:rPr>
              <a:t>Questions?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E6E7A"/>
                </a:solidFill>
                <a:latin typeface="Calibri"/>
              </a:rPr>
              <a:t>github.com/umar24nov/StudyVault  ·  studyvaultapp.vercel.app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